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1828800" cy="1828800"/>
          </a:xfrm>
          <a:prstGeom prst="ellipse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JOURNEY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reis van jouw klant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36576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HBO Bedrijfskunde  |  1e jaar  |  Vak: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 gaan we vandaag doen?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02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17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een customer journey?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719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Definitie en belang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8229600" cy="1828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502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86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 fases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587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bewustwording tot ambassadeur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8229600" cy="1828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502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54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Bedrijfsvoorbeelden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456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Coolblue · Spotify · Basic-Fit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76472"/>
            <a:ext cx="8229600" cy="1828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02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0233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Opdracht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4325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je eigen customer journey map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45152"/>
            <a:ext cx="8229600" cy="1828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73152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NADENKEN...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Denk aan de laatste keer dat je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iets online hebt gekocht.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ben je bij dat bedrijf terechtgekomen?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6576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koos je voor dit bedrijf en niet een ander?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6576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 je het ooit aan iemand aanbevolen?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THEORIE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 is een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Journey?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54864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868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totale proces dat een klant doorloopt: van het eerste bewustwordingsmoment tot en met het worden van een loyale ambassadeur.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is dit belangrijk?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514600"/>
            <a:ext cx="201168" cy="2011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41648" y="24871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Klanten begrijpen = betere marketing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49040" y="3108960"/>
            <a:ext cx="201168" cy="2011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Juiste boodschap op het juiste moment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49040" y="3703320"/>
            <a:ext cx="201168" cy="2011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klanttevredenheid &amp; loyaliteit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4297680"/>
            <a:ext cx="201168" cy="2011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42702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Concurrentievoordeel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5 Fases van de Customer Journey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91640" y="2148840"/>
            <a:ext cx="301752" cy="10972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20848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" y="1417320"/>
            <a:ext cx="1417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417320"/>
            <a:ext cx="141732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0896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Bewust-wording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1325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ontdekken klanten ons?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10712" y="2148840"/>
            <a:ext cx="301752" cy="10972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0848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29968" y="1417320"/>
            <a:ext cx="1417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29968" y="1417320"/>
            <a:ext cx="141732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29968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29968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Overweging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84832" y="2926080"/>
            <a:ext cx="1325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kiezen klanten voor ons?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9784" y="2148840"/>
            <a:ext cx="301752" cy="10972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20848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417320"/>
            <a:ext cx="1417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49040" y="1417320"/>
            <a:ext cx="141732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49040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74904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03904" y="2926080"/>
            <a:ext cx="1325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makkelijk is kopen?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48856" y="2148840"/>
            <a:ext cx="301752" cy="10972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20848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68112" y="1417320"/>
            <a:ext cx="1417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68112" y="1417320"/>
            <a:ext cx="14173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68112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68112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22976" y="2926080"/>
            <a:ext cx="1325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houden we klanten?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87184" y="1417320"/>
            <a:ext cx="1417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87184" y="1417320"/>
            <a:ext cx="1417320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87184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87184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187184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Ambassadeur-schap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42048" y="2926080"/>
            <a:ext cx="1325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worden klanten fan?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Touchpoints: elk contactmoment telt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touchpoint is elk moment waarop een klant in contact komt met jouw bedrijf.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1920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17373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Social media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Google-advertentie · E-mail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· Review-sites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87168" y="196596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965960"/>
            <a:ext cx="192024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2514600"/>
            <a:ext cx="17373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Winkel · Poster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 advies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Pakket bezorging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08576" y="196596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965960"/>
            <a:ext cx="1920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514600"/>
            <a:ext cx="17373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Klantenservice · Chat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Installatie · Garantie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9984" y="196596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965960"/>
            <a:ext cx="192024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21424" y="2514600"/>
            <a:ext cx="17373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Mond-tot-mond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· Shares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Ambassadeurs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9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803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03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235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235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235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235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235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235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9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79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79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379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523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523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523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523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523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66760" y="-1828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66760" y="731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66760" y="16459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66760" y="25603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66760" y="34747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66760" y="43891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007BB5"/>
          </a:solidFill>
          <a:ln w="12700">
            <a:solidFill>
              <a:srgbClr val="007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COOLBLUE</a:t>
            </a:r>
            <a:endParaRPr lang="en-US" sz="5200" dirty="0"/>
          </a:p>
        </p:txBody>
      </p:sp>
      <p:sp>
        <p:nvSpPr>
          <p:cNvPr id="64" name="Text 6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"Anything for a smile" — hoe Coolblue klanten wint én behoudt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457200" y="3291840"/>
            <a:ext cx="256032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000" dirty="0"/>
          </a:p>
        </p:txBody>
      </p:sp>
      <p:sp>
        <p:nvSpPr>
          <p:cNvPr id="68" name="Text 66"/>
          <p:cNvSpPr/>
          <p:nvPr/>
        </p:nvSpPr>
        <p:spPr>
          <a:xfrm>
            <a:off x="45720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0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klanttevredenheid NL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383280" y="3291840"/>
            <a:ext cx="256032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25.000+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33832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0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medewerkers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309360" y="3291840"/>
            <a:ext cx="256032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70+</a:t>
            </a:r>
            <a:endParaRPr lang="en-US" sz="3000" dirty="0"/>
          </a:p>
        </p:txBody>
      </p:sp>
      <p:sp>
        <p:nvSpPr>
          <p:cNvPr id="74" name="Text 72"/>
          <p:cNvSpPr/>
          <p:nvPr/>
        </p:nvSpPr>
        <p:spPr>
          <a:xfrm>
            <a:off x="630936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0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vestigingen</a:t>
            </a:r>
            <a:endParaRPr lang="en-US" sz="1050" dirty="0"/>
          </a:p>
        </p:txBody>
      </p:sp>
      <p:pic>
        <p:nvPicPr>
          <p:cNvPr id="75" name="Image 0" descr="/sessions/keen-loving-pasteur/mnt/Hackathon - Customer Journey/logos/Logo-coolblue-500x5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91440"/>
            <a:ext cx="1600200" cy="160020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BE0"/>
          </a:solidFill>
          <a:ln w="12700">
            <a:solidFill>
              <a:srgbClr val="00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09BE0"/>
          </a:solidFill>
          <a:ln w="12700">
            <a:solidFill>
              <a:srgbClr val="009B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COOLBLUE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Journey: Coolblue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Bewustwording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435608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Ads, prijsvergelijkingssites (Kieskeurig, Tweakers), YouTube-reviews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Altijd zichtbaar op het juiste zoekmoment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671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Overweging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185416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Uitgebreide productpagina's, klantreviews, gratis advies via chat &amp; telefoon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Eerlijk advies – ook als dat goedkoper 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73152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16936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Aankoop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935224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Eenvoudig bestelproces, meerdere betaalmethoden, keuze bezorgtijdslot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Gratis bezorging + avond- &amp; weekendlevering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6674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Retentie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685032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Installatie aan huis, follow-up e-mail, garantie- &amp; reparatieservice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'Blauwe doos'-beleving bij ontvangst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16552"/>
            <a:ext cx="73152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16552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Ambassadeur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434840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Prominente reviews, reactie op kritiek, unieke merkbeleving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Herkenbare verpakking = online delen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600" kern="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freemium-gebruiker tot betalende fan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560320" cy="1463040"/>
          </a:xfrm>
          <a:prstGeom prst="rect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600M+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actieve gebruikers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3291840"/>
            <a:ext cx="2560320" cy="1463040"/>
          </a:xfrm>
          <a:prstGeom prst="rect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240M+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betaalde abonnees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2560320" cy="1463040"/>
          </a:xfrm>
          <a:prstGeom prst="rect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Wrapped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936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400M+ shares/jaar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109728"/>
            <a:ext cx="3154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/sessions/keen-loving-pasteur/mnt/Hackathon - Customer Journey/logos/Spotify_logo_with_text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82880"/>
            <a:ext cx="2944368" cy="8869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SPOTIFY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Journey: Spotify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Bewustwording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435608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tier (freemium), vrienden zien wat je luistert, aanbevelingen via social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Geen drempel om te beginnen: gratis instappen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671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Overweging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185416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proefmaand Premium, studentenkorting (50%), vergelijking met Apple Music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Personalisatie laat je zien wat je mist zonder Premium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73152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16936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Aankoop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935224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Aanmelding in 30 seconden, betaling via iDEAL/PayPal/Apple, geen jaarcontract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Lage drempel: maandelijks opzegbaar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6674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Retentie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685032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Weekly, Daily Mixes, podcasts, Spotify Wrapped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Algoritme: wordt beter naarmate je meer luistert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16552"/>
            <a:ext cx="73152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16552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Ambassadeur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434840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Wrapped massaal gedeeld op Instagram &amp; Twitter, samenwerking met vrienden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Wrapped is geniale marketingcampagne via gebruikers zelf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82880"/>
            <a:ext cx="5029200" cy="502920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Wrapped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Spotify gebruikers zelf tot marketeer maakt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9443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jaar in december: gepersonaliseerd jaaroverzicht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74136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3467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Kleurrijke infographic die je kunt delen op social media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76472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7490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Resultaat: meer dan 400 miljoen shares per jaar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78808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1513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Miljoenen mensen doen gratis marketing voor Spotify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8114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5537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Ambassadeurschap en aankoop tegelijk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DISCUSSIE: Waarom is Wrapped zo effectief als marketingmiddel?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C0001F"/>
          </a:solidFill>
          <a:ln w="12700">
            <a:solidFill>
              <a:srgbClr val="C000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BASIC-FIT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voor iedereen: laagdrempelig, flexibel en betaalbaar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56032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4M+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leden in Europa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3291840"/>
            <a:ext cx="256032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€20/mnd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instapprijs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256032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9144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/sessions/keen-loving-pasteur/mnt/Hackathon - Customer Journey/logos/Logo_Basic-F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73736"/>
            <a:ext cx="3035808" cy="98755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02B"/>
          </a:solidFill>
          <a:ln w="12700">
            <a:solidFill>
              <a:srgbClr val="E50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E5002B"/>
          </a:solidFill>
          <a:ln w="12700">
            <a:solidFill>
              <a:srgbClr val="E500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BASIC-FIT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Journey: Basic-Fit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Bewustwording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435608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advertenties, zichtbare locaties in winkelcentra, mond-tot-mond via lage prijs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Prijs is het sterkste argument: fitness voor iedereen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671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Overweging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185416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proefdag, digitale rondleiding via de app, transparante prijsvergelijking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Geen drempel: gratis uitproberen zonder verplichting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73152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16936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Aankoop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935224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inschrijven in &lt;2 minuten, geen inschrijfgeld, maandelijks opzegbaar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Maximale flexibiliteit: geen hoge opstartkosten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6674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Retentie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685032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met trainingsschema's, check-ins, challenges, beloningen, toegang alle vestigingen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Gamificatie: app maakt fitness leuker en motiveert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16552"/>
            <a:ext cx="73152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16552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Ambassadeur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434840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'Refer a friend'-korting, #basicfit social media challenges, community-gevoel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Leden worden actief beloond voor het aandragen van nieuwe leden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560320"/>
            <a:ext cx="3200400" cy="320040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65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ZZP'ER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Lisa, freelance personal trainer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4572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26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ZZP'er bén jij het merk. Elke interactie telt dubbel – persoonlijk vertrouwen is je grootste troef.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858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 contact = kernkracht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224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Mond-tot-mondreclame is cruciaal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617720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fout = grote schade voor imago</a:t>
            </a:r>
            <a:endParaRPr lang="en-US" sz="1150" dirty="0"/>
          </a:p>
        </p:txBody>
      </p:sp>
      <p:pic>
        <p:nvPicPr>
          <p:cNvPr id="17" name="Image 0" descr="/sessions/keen-loving-pasteur/logos/zzp_li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01168"/>
            <a:ext cx="3520440" cy="12893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ZZP'ER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Journey: Freelance Personal Trainer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Bewustwording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435608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Instagram/TikTok met gratis fitnesstips, Google ('personal trainer Utrecht'), mond-tot-mond via sportschool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Gratis waardevolle content bouwt vertrouwen vóór de eerste interactie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671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Overweging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185416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kennismakingsgesprek (online of in persoon), testimonials van tevreden klanten, duidelijke website met tarieven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Vertrouwen wekken is hier doorslaggevend – mensen kopen de persoon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73152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16936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Aankoop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935224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 aanbod op maat, boeken via WhatsApp/Calendly, meerdere pakketten (losse sessies, maandabonnement)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Eenvoudig en persoonlijk: geen gedoe, gewoon snel regelen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6674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Retentie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685032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Wekelijkse check-ins, gepersonaliseerde trainingsschema's, progressiefoto's en resultaten bijhouden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Persoonlijke aandacht zorgt voor trouwe klanten die langer blijven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16552"/>
            <a:ext cx="73152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16552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Ambassadeur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434840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Klanten posten resultaten op social media en noemen de trainer, Google-reviews, actieve 'vertel een vriend'-aanpak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Tevreden klanten zijn de beste én goedkoopste marketingstrategie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B45309">
              <a:alpha val="16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D97706">
              <a:alpha val="13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MKB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Retro Chic, vintage kledingwinkel Utrecht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4572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MKB-er heeft minder budget, maar wint met authenticiteit, community en lokale verbinding.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886200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858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zichtbaarheid is goud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4251960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224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beleving zijn de USP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Instagram/TikTok vervangen dure advertenties</a:t>
            </a:r>
            <a:endParaRPr lang="en-US" sz="1150" dirty="0"/>
          </a:p>
        </p:txBody>
      </p:sp>
      <p:pic>
        <p:nvPicPr>
          <p:cNvPr id="16" name="Image 0" descr="/sessions/keen-loving-pasteur/logos/mkb_re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01168"/>
            <a:ext cx="3703320" cy="1362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MKB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Journey: Retro Chic Vintage Winkel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Bewustwording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435608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&amp; TikTok met unieke vondsten (#vintage #thrift), Google Maps ('vintage Utrecht'), zichtbaar winkelfront in drukke straat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Visuele content van bijzondere stukken genereert organisch bereik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671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Overweging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185416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Rondkijken in de winkel, scrollen door Instagram-feed voor stijl &amp; assortiment, positieve Google-reviews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 beleving in de winkel (sfeer, muziek, personeel) overtuigt ter plaatse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73152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16936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Aankoop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935224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Vriendelijk en deskundig advies, unieke producten die je nergens anders vindt, gevoel van duurzame &amp; betaalbare 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Het 'goede gevoel' bij vintage: stijlvol én bewust consumeren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6674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85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Retentie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685032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Nieuwsbrief met nieuwe collecties, loyaliteitskaart (10e aankoop gratis), speciale events (swap night, vintage markt)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Events creëren community-gevoel en brengen klanten steeds terug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16552"/>
            <a:ext cx="73152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16552"/>
            <a:ext cx="8229600" cy="59436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Ambassadeur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434840"/>
            <a:ext cx="5943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Klanten posten hun 'thrift-finds' op Instagram en taggen de winkel, mond-tot-mond in de buurt, repost door de winkel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Klanten worden stijl-ambassadeurs – gratis authentieke marketing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VERGELIJKING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Groot vs. Klein: wat verschilt 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8862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3794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Grote merken (Coolblue · Spotify · Basic-Fit)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4297680" cy="3840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417320"/>
            <a:ext cx="4206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bedrijven (ZZP'er · MKB)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Bewustwording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72768" y="192024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Grote budgetten: Google Ads, TV, radio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42816" y="1965960"/>
            <a:ext cx="2011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1965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62272" y="1920240"/>
            <a:ext cx="4297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Gratis: Instagram, TikTok, mond-tot-mond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1188720" cy="5486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42032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Overweging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72768" y="2542032"/>
            <a:ext cx="2651760" cy="5486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8488" y="2542032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Technologie: reviews, vergelijkingssites,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42816" y="2587752"/>
            <a:ext cx="201168" cy="45720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25877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62272" y="2542032"/>
            <a:ext cx="4297680" cy="5486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2542032"/>
            <a:ext cx="4206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Persoonlijk: gesprek, sfeer, vertrouwen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63824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63824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72768" y="3163824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18488" y="3163824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Geoptimaliseerd: A/B-tests, frictionless UX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42816" y="3209544"/>
            <a:ext cx="2011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2816" y="3209544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62272" y="3163824"/>
            <a:ext cx="4297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3163824"/>
            <a:ext cx="4206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 contact; eenvoud is al genoeg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785616"/>
            <a:ext cx="1188720" cy="5486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785616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572768" y="3785616"/>
            <a:ext cx="2651760" cy="5486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18488" y="3785616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automatisering: algoritmes, apps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42816" y="3831336"/>
            <a:ext cx="201168" cy="45720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42816" y="383133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↔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62272" y="3785616"/>
            <a:ext cx="4297680" cy="5486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07992" y="3785616"/>
            <a:ext cx="4206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Relatie &amp; herkenning; jij kent je klant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407408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40740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Ambassadeur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572768" y="4407408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18488" y="4407408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Schaalbaar: Wrapped, referral-programma's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42816" y="4453128"/>
            <a:ext cx="2011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42816" y="445312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462272" y="4407408"/>
            <a:ext cx="4297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7992" y="4407408"/>
            <a:ext cx="4206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Authentiek: klanten posten vanuit passie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Conclusie: de principes zijn hetzelfde – de middelen en schaal zijn anders.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OPDRACHT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Hoe maak je een Customer Journey Map?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73152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6002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je doelgroep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is jouw klant? Beschrijf de persona (leeftijd, gedrag, behoeften).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63040"/>
            <a:ext cx="73152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160020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de fases door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Beschrijf per fase wat de klant doet, denkt en voelt.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73152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3375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364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Benoem touchpoints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3657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 komt de klant jouw bedrijf tegen? Online en offline.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2004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200400"/>
            <a:ext cx="73152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33375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364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Pijnpunten &amp; kansen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794760"/>
            <a:ext cx="3657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 loopt het mis? Wat kan beter? Benoem minimaal 1 verbeterpunt.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OPDRACHT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Maak je eigen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Journey Map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65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359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een bedrijf (Albert Heijn, Netflix, Zalando, Ikea, Duolingo...)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365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53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9809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Beschrijf de 5 fases: wat doet/denkt/voelt de klant?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365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75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60273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Benoem minimaal 1 touchpoint per fase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197096"/>
            <a:ext cx="365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970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2245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Formuleer 1 verbeterpunt in de journey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Tijd: 20 minuten  |  Individueel of in duo's  |  Gebruik het werkblad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SAMENVATTING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 hebben we geleerd vandaag?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023360" cy="1508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8EC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totale pad van klant: van eerste contact tot ambassadeur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4023360" cy="1508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8EC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5️⃣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 Fases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Bewustwording → Overweging → Aankoop → Retentie → Ambassadeur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023360" cy="1508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8EC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Touchpoints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35661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contactmoment met het bedrijf telt – online en offline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023360" cy="1508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8EC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32120" y="33101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elk bedrijf geldt het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840480"/>
            <a:ext cx="35661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Groot (Coolblue · Spotify · Basic-Fit) of klein (ZZP'er · MKB) – de journey is altijd de basis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VRAGEN?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6576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Sluitvraag voor de klas: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Welk bedrijf heeft volgens jou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beste customer journey, en waarom?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HBO Bedrijfskunde  ·  Marketing  ·  Customer Journey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1B6844E7978F4187925C2DCBFC0829" ma:contentTypeVersion="0" ma:contentTypeDescription="Create a new document." ma:contentTypeScope="" ma:versionID="1ab478d68400060ff2cd1d3b64aeab6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5CC0CE-1554-4AB6-BCD4-D161969E5B75}"/>
</file>

<file path=customXml/itemProps2.xml><?xml version="1.0" encoding="utf-8"?>
<ds:datastoreItem xmlns:ds="http://schemas.openxmlformats.org/officeDocument/2006/customXml" ds:itemID="{116520BD-0E7A-4BB1-9DED-03CAC7FD8835}"/>
</file>

<file path=customXml/itemProps3.xml><?xml version="1.0" encoding="utf-8"?>
<ds:datastoreItem xmlns:ds="http://schemas.openxmlformats.org/officeDocument/2006/customXml" ds:itemID="{81E9BBBA-C8B6-4497-AD49-A2EE72D27A6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Journey - HBO Bedrijfskunde Marketing</dc:title>
  <dc:subject>PptxGenJS Presentation</dc:subject>
  <dc:creator>HBO Bedrijfskunde</dc:creator>
  <cp:lastModifiedBy>HBO Bedrijfskunde</cp:lastModifiedBy>
  <cp:revision>1</cp:revision>
  <dcterms:created xsi:type="dcterms:W3CDTF">2026-04-09T09:29:22Z</dcterms:created>
  <dcterms:modified xsi:type="dcterms:W3CDTF">2026-04-09T09:29:22Z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0x010100E51B6844E7978F4187925C2DCBFC0829</vt:lpwstr>
  </property>
</Properties>
</file>